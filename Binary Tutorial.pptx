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5C9EBC"/>
    <a:srgbClr val="1A1A1A"/>
    <a:srgbClr val="AE46EA"/>
    <a:srgbClr val="28D6A9"/>
    <a:srgbClr val="23B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5664" autoAdjust="0"/>
  </p:normalViewPr>
  <p:slideViewPr>
    <p:cSldViewPr snapToGrid="0">
      <p:cViewPr>
        <p:scale>
          <a:sx n="88" d="100"/>
          <a:sy n="88" d="100"/>
        </p:scale>
        <p:origin x="444" y="138"/>
      </p:cViewPr>
      <p:guideLst/>
    </p:cSldViewPr>
  </p:slideViewPr>
  <p:outlineViewPr>
    <p:cViewPr>
      <p:scale>
        <a:sx n="33" d="100"/>
        <a:sy n="33" d="100"/>
      </p:scale>
      <p:origin x="0" y="-404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3A676-739C-4AF6-B8B9-95D5CA1B53CE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77908-AABC-4B72-A0B2-8FAB827F4F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036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CA70-E4F7-ECA4-6B11-7B15E2799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83C370-1F54-FEFD-2D5B-2CF8B076C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AB461-4DD3-0B11-91DA-8B25C49A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17535-8AB2-56F3-912F-A16FD546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1E9C0-5E27-D238-96B9-0CC7E2E9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19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84FF7-8B5B-09BF-8F58-FF233994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51620-7172-CF96-D65A-3FF991BEF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538" y="1690688"/>
            <a:ext cx="10228261" cy="44862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510D9-1073-5F75-5989-9A45E81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F4FCD-82E0-E515-E822-27C5F38F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8C405-B40E-BFA7-79BF-F9469FB3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41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4569C-FAF0-9983-3043-A3EE55913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2C560-5051-E0CB-625C-789545A84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5539" y="1690688"/>
            <a:ext cx="487185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6EE9C-A1DC-DD05-1AB6-8AA8006BB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5539" y="2514600"/>
            <a:ext cx="487185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44013-F0E7-378A-3F04-77BA4BE4A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7950" y="1690688"/>
            <a:ext cx="4895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E2040-39B7-A05F-C806-25A56DDB1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7950" y="2514600"/>
            <a:ext cx="489585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09188-74D5-621A-5DE3-C6236403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4AEDB-7C42-69B4-42D4-97E22E40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D81905-160B-C85C-313F-41ADC7E0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382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ECE9-873E-3A59-2C2A-8B0E5013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C260E-06D0-D739-FF71-DC6DFAB02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8940E-9272-2360-7B1F-BDAFA8655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B4A2B-D111-A6A6-B769-9E3F8841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A5DD8-F5EA-84BB-4A3F-1AACB037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00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7C81-2E33-EC31-07E2-23827DA66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23171-51A0-BC71-D2C4-D76416B37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A5686-6F33-9F54-8426-DC2E795F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2822D-89D8-24DE-5A17-16D7104C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C08AD-E8D9-70C9-84C2-7412BBF9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31711-0935-CEE5-2279-17671822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36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0D90-448E-025C-CE14-6547082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F7E75F-E66A-43E2-6932-621307B8D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527ABA-BF56-9944-EC7D-83644AF7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A6C8B-2B60-3FAA-8B66-1217B925E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61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39DD4-5E8E-87A7-A207-249D168A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41E3B-8666-1B7D-897A-DFACC186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BE2A9-89CE-5B34-7B00-16C58DF9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50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B278-1380-2C15-2772-5AD3D07B1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F3B1C-BE5D-8A46-FBD6-858E44F02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E930D-5BED-A53E-9D3F-0F1A188B0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3903D-DB65-37C6-58DA-F5CFE332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949DD-5CC4-AF02-BF32-FF4D8DD8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B1340-3F15-42C6-4BDB-C7D3BDE5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35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C9EF-14ED-708E-023B-C79133CEA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9A4966-246B-1017-3764-87DD40CE9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C2EB7-5AE0-D53F-8EDB-B3BCBB72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126B3-FBC6-1A3F-5D6B-6E55EC97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DE595-5FA5-7FBB-110A-2B3A0F72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DEED6-B9D4-DBF7-DC23-5A844B609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76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EA0AC-4FD5-4CAB-2D07-4A7B265FA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58717-B636-8A44-22D9-C8D0CCCB9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3D679-F248-15B6-1882-10A5432C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1821-B281-81AA-995C-8FF896B43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42423-644F-9788-6D99-5051E48D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16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AE3C2-17A2-204A-1CB4-9A12A0DEA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C4E28-5D82-730A-2B8C-D9EBDCDB3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CEA9E-4DFB-763B-081C-61DC4AA3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9E7FE-4E8E-35E8-150E-25FB5D38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E25C0-388F-8E64-D448-4DE448FB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3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rgbClr val="1A1A1A"/>
            </a:gs>
            <a:gs pos="100000">
              <a:srgbClr val="AE46EA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592BCE-BCFF-8B84-BB30-5E7F6BF3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9E229-22B6-3F1C-B9B7-795D9BF57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7B743-BE65-C257-415F-42F7401FE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01FF2-9045-42EB-AB08-18313A7772C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DCA47-99D0-327C-0302-4F7D1F016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45174-B988-55FB-C833-1EBF089CD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D07BA-20BF-490C-A8A1-D111F3BD19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06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5C9EB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8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2072-3138-3F5D-FD7C-D19A88E5F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51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GB" sz="6500" b="1" dirty="0">
                <a:solidFill>
                  <a:srgbClr val="5C9EBC"/>
                </a:solidFill>
              </a:rPr>
              <a:t>Understanding Binary</a:t>
            </a:r>
            <a:br>
              <a:rPr lang="en-GB" sz="6500" b="1" dirty="0">
                <a:solidFill>
                  <a:srgbClr val="5C9EBC"/>
                </a:solidFill>
              </a:rPr>
            </a:br>
            <a:r>
              <a:rPr lang="en-GB" sz="5400" dirty="0">
                <a:solidFill>
                  <a:srgbClr val="5C9EBC"/>
                </a:solidFill>
              </a:rPr>
              <a:t>The language of computers</a:t>
            </a:r>
            <a:endParaRPr lang="en-GB" sz="6500" dirty="0">
              <a:solidFill>
                <a:srgbClr val="5C9EB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50D8F-4965-9BDD-9D37-38780C9F4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GB" b="1" dirty="0">
                <a:solidFill>
                  <a:schemeClr val="bg1">
                    <a:lumMod val="85000"/>
                  </a:schemeClr>
                </a:solidFill>
              </a:rPr>
              <a:t>By </a:t>
            </a:r>
            <a:r>
              <a:rPr lang="en-GB" sz="3600" b="1" dirty="0">
                <a:solidFill>
                  <a:schemeClr val="bg1">
                    <a:lumMod val="85000"/>
                  </a:schemeClr>
                </a:solidFill>
              </a:rPr>
              <a:t>Zoe Weston </a:t>
            </a:r>
            <a:r>
              <a:rPr lang="en-GB" b="1" dirty="0">
                <a:solidFill>
                  <a:schemeClr val="bg1">
                    <a:lumMod val="85000"/>
                  </a:schemeClr>
                </a:solidFill>
              </a:rPr>
              <a:t>&amp;</a:t>
            </a:r>
            <a:r>
              <a:rPr lang="en-GB" sz="12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GB" sz="1200" b="1" dirty="0"/>
              <a:t>Isabelle Wickens</a:t>
            </a:r>
          </a:p>
          <a:p>
            <a:r>
              <a:rPr lang="en-GB" b="1" dirty="0">
                <a:solidFill>
                  <a:schemeClr val="bg1">
                    <a:lumMod val="85000"/>
                  </a:schemeClr>
                </a:solidFill>
              </a:rPr>
              <a:t>Wellbeing Champions Computer Science Society</a:t>
            </a:r>
            <a:endParaRPr lang="en-GB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848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D28A-CCEF-ED77-7E1A-C5E37484A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Binary?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EF008-B73F-FC1C-DBF4-2BC046223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Binary is the language of computers </a:t>
            </a:r>
          </a:p>
          <a:p>
            <a:r>
              <a:rPr lang="en-GB" dirty="0"/>
              <a:t>Written using only 1s and 0s </a:t>
            </a:r>
          </a:p>
          <a:p>
            <a:r>
              <a:rPr lang="en-GB" dirty="0"/>
              <a:t>Each digit (1 or 0) is called a bit</a:t>
            </a:r>
          </a:p>
          <a:p>
            <a:r>
              <a:rPr lang="en-GB" dirty="0"/>
              <a:t>4 bits is a nibble </a:t>
            </a:r>
          </a:p>
          <a:p>
            <a:r>
              <a:rPr lang="en-GB" dirty="0"/>
              <a:t>2 nibbles is a byte </a:t>
            </a:r>
          </a:p>
        </p:txBody>
      </p:sp>
    </p:spTree>
    <p:extLst>
      <p:ext uri="{BB962C8B-B14F-4D97-AF65-F5344CB8AC3E}">
        <p14:creationId xmlns:p14="http://schemas.microsoft.com/office/powerpoint/2010/main" val="825482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8E9D8-96A3-59D5-A841-9E8D075D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it work?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31C69-13D1-F52D-4B82-4F282B7DAC83}"/>
              </a:ext>
            </a:extLst>
          </p:cNvPr>
          <p:cNvSpPr txBox="1"/>
          <p:nvPr/>
        </p:nvSpPr>
        <p:spPr>
          <a:xfrm>
            <a:off x="1418232" y="2501204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973B1-DC3C-C4E9-C382-FAEA81374A9F}"/>
              </a:ext>
            </a:extLst>
          </p:cNvPr>
          <p:cNvSpPr txBox="1"/>
          <p:nvPr/>
        </p:nvSpPr>
        <p:spPr>
          <a:xfrm>
            <a:off x="2594446" y="2501204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DBD4E-9EEB-447B-4BE9-188F69D28112}"/>
              </a:ext>
            </a:extLst>
          </p:cNvPr>
          <p:cNvSpPr txBox="1"/>
          <p:nvPr/>
        </p:nvSpPr>
        <p:spPr>
          <a:xfrm>
            <a:off x="3770660" y="2501204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E2DEB-AAE5-71A5-D178-2A85F8FC9E98}"/>
              </a:ext>
            </a:extLst>
          </p:cNvPr>
          <p:cNvSpPr txBox="1"/>
          <p:nvPr/>
        </p:nvSpPr>
        <p:spPr>
          <a:xfrm>
            <a:off x="4946874" y="2501204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987BD-0F92-E076-2A70-FF92AA87A613}"/>
              </a:ext>
            </a:extLst>
          </p:cNvPr>
          <p:cNvSpPr txBox="1"/>
          <p:nvPr/>
        </p:nvSpPr>
        <p:spPr>
          <a:xfrm>
            <a:off x="6123088" y="2501204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BDA21-FF13-B3A0-24BE-5EC56A25354E}"/>
              </a:ext>
            </a:extLst>
          </p:cNvPr>
          <p:cNvSpPr txBox="1"/>
          <p:nvPr/>
        </p:nvSpPr>
        <p:spPr>
          <a:xfrm>
            <a:off x="7299302" y="2501204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E5390B-7D90-7745-FA90-14B0DA03004B}"/>
              </a:ext>
            </a:extLst>
          </p:cNvPr>
          <p:cNvSpPr txBox="1"/>
          <p:nvPr/>
        </p:nvSpPr>
        <p:spPr>
          <a:xfrm>
            <a:off x="8475516" y="2501204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C59CFB-E3AA-5F0A-F2A8-3479D0D40F39}"/>
              </a:ext>
            </a:extLst>
          </p:cNvPr>
          <p:cNvSpPr txBox="1"/>
          <p:nvPr/>
        </p:nvSpPr>
        <p:spPr>
          <a:xfrm>
            <a:off x="9651730" y="2501204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E9F9BA-567A-351D-F572-925DA8C970E3}"/>
              </a:ext>
            </a:extLst>
          </p:cNvPr>
          <p:cNvSpPr txBox="1"/>
          <p:nvPr/>
        </p:nvSpPr>
        <p:spPr>
          <a:xfrm>
            <a:off x="1418231" y="1690688"/>
            <a:ext cx="11220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00" b="1" dirty="0">
                <a:solidFill>
                  <a:srgbClr val="D9D9D9"/>
                </a:solidFill>
              </a:rPr>
              <a:t>128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AFE818-FDD0-E720-43BA-31C93841D027}"/>
              </a:ext>
            </a:extLst>
          </p:cNvPr>
          <p:cNvSpPr txBox="1"/>
          <p:nvPr/>
        </p:nvSpPr>
        <p:spPr>
          <a:xfrm>
            <a:off x="2594446" y="1690688"/>
            <a:ext cx="1122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00" b="1" dirty="0">
                <a:solidFill>
                  <a:srgbClr val="D9D9D9"/>
                </a:solidFill>
              </a:rPr>
              <a:t>64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2451C-6A66-2A03-3A26-10EA83B59F1A}"/>
              </a:ext>
            </a:extLst>
          </p:cNvPr>
          <p:cNvSpPr txBox="1"/>
          <p:nvPr/>
        </p:nvSpPr>
        <p:spPr>
          <a:xfrm>
            <a:off x="3770660" y="1690688"/>
            <a:ext cx="1122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00" b="1" dirty="0">
                <a:solidFill>
                  <a:srgbClr val="D9D9D9"/>
                </a:solidFill>
              </a:rPr>
              <a:t>32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F80093-DA06-8488-FA1F-0807E7218EB4}"/>
              </a:ext>
            </a:extLst>
          </p:cNvPr>
          <p:cNvSpPr txBox="1"/>
          <p:nvPr/>
        </p:nvSpPr>
        <p:spPr>
          <a:xfrm>
            <a:off x="4946874" y="1690688"/>
            <a:ext cx="1122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00" b="1" dirty="0">
                <a:solidFill>
                  <a:srgbClr val="D9D9D9"/>
                </a:solidFill>
              </a:rPr>
              <a:t>16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4018B5-313C-1C20-904B-F64B8F5A4D8B}"/>
              </a:ext>
            </a:extLst>
          </p:cNvPr>
          <p:cNvSpPr txBox="1"/>
          <p:nvPr/>
        </p:nvSpPr>
        <p:spPr>
          <a:xfrm>
            <a:off x="6123088" y="1690688"/>
            <a:ext cx="1122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00" b="1" dirty="0">
                <a:solidFill>
                  <a:srgbClr val="D9D9D9"/>
                </a:solidFill>
              </a:rPr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2AFD88-8EAC-E706-1442-6181AEED0923}"/>
              </a:ext>
            </a:extLst>
          </p:cNvPr>
          <p:cNvSpPr txBox="1"/>
          <p:nvPr/>
        </p:nvSpPr>
        <p:spPr>
          <a:xfrm>
            <a:off x="7299302" y="1690688"/>
            <a:ext cx="1122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00" b="1" dirty="0">
                <a:solidFill>
                  <a:srgbClr val="D9D9D9"/>
                </a:solidFill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EAE65B-2A91-8906-0B30-678F420966A7}"/>
              </a:ext>
            </a:extLst>
          </p:cNvPr>
          <p:cNvSpPr txBox="1"/>
          <p:nvPr/>
        </p:nvSpPr>
        <p:spPr>
          <a:xfrm>
            <a:off x="8475516" y="1690688"/>
            <a:ext cx="1122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00" b="1" dirty="0">
                <a:solidFill>
                  <a:srgbClr val="D9D9D9"/>
                </a:solidFill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13F4BB-5F2B-0FEE-61B3-52806D4A0CBC}"/>
              </a:ext>
            </a:extLst>
          </p:cNvPr>
          <p:cNvSpPr txBox="1"/>
          <p:nvPr/>
        </p:nvSpPr>
        <p:spPr>
          <a:xfrm>
            <a:off x="9651730" y="1690688"/>
            <a:ext cx="11220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600" b="1" dirty="0">
                <a:solidFill>
                  <a:srgbClr val="D9D9D9"/>
                </a:solidFill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9F71BF-EB60-728E-AEA6-5742DC58B806}"/>
              </a:ext>
            </a:extLst>
          </p:cNvPr>
          <p:cNvSpPr txBox="1"/>
          <p:nvPr/>
        </p:nvSpPr>
        <p:spPr>
          <a:xfrm>
            <a:off x="2403185" y="4336316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2461D8-CA32-8F59-4D1A-BE6A06F0B5FE}"/>
              </a:ext>
            </a:extLst>
          </p:cNvPr>
          <p:cNvSpPr txBox="1"/>
          <p:nvPr/>
        </p:nvSpPr>
        <p:spPr>
          <a:xfrm>
            <a:off x="3209652" y="4336316"/>
            <a:ext cx="1122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+8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54DCDB-9B4F-F66D-9630-1FEF09BA55FE}"/>
              </a:ext>
            </a:extLst>
          </p:cNvPr>
          <p:cNvSpPr txBox="1"/>
          <p:nvPr/>
        </p:nvSpPr>
        <p:spPr>
          <a:xfrm>
            <a:off x="4105369" y="4336316"/>
            <a:ext cx="1683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+16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331748-DC23-52CC-AA17-C80F593ECB1D}"/>
              </a:ext>
            </a:extLst>
          </p:cNvPr>
          <p:cNvSpPr txBox="1"/>
          <p:nvPr/>
        </p:nvSpPr>
        <p:spPr>
          <a:xfrm>
            <a:off x="5472854" y="4336316"/>
            <a:ext cx="1683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>
                <a:solidFill>
                  <a:srgbClr val="D9D9D9"/>
                </a:solidFill>
              </a:rPr>
              <a:t>+64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7B6DA8-C215-C402-9CA7-C635B30CA5D6}"/>
              </a:ext>
            </a:extLst>
          </p:cNvPr>
          <p:cNvSpPr txBox="1"/>
          <p:nvPr/>
        </p:nvSpPr>
        <p:spPr>
          <a:xfrm>
            <a:off x="6929566" y="4336316"/>
            <a:ext cx="1683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u="sng" dirty="0">
                <a:solidFill>
                  <a:srgbClr val="D9D9D9"/>
                </a:solidFill>
              </a:rPr>
              <a:t>= 89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C8ED28B-D829-4F9E-BCDD-2643CA2DCCD6}"/>
              </a:ext>
            </a:extLst>
          </p:cNvPr>
          <p:cNvSpPr txBox="1">
            <a:spLocks/>
          </p:cNvSpPr>
          <p:nvPr/>
        </p:nvSpPr>
        <p:spPr>
          <a:xfrm>
            <a:off x="0" y="5748714"/>
            <a:ext cx="64759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5C9EB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dirty="0"/>
              <a:t>There is no need to calculate the binary numbers for bingo as the normal ones will be shown </a:t>
            </a:r>
          </a:p>
        </p:txBody>
      </p:sp>
    </p:spTree>
    <p:extLst>
      <p:ext uri="{BB962C8B-B14F-4D97-AF65-F5344CB8AC3E}">
        <p14:creationId xmlns:p14="http://schemas.microsoft.com/office/powerpoint/2010/main" val="181533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068 0.00255 L 4.16667E-7 -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34" y="-13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794 0.00024 L 1.25E-6 4.07407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547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274 0.00024 L -3.125E-6 4.07407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86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896 -0.00046 L 4.0766E-17 -1.48148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57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597 0.0007 L 5E-6 -1.48148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727" y="-6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931 -0.00046 L 3.75E-6 -1.48148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80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089 -4.44444E-6 L -4.16667E-7 -4.44444E-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687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9167 -0.00162 L 4.16667E-7 -4.44444E-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557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6" grpId="0"/>
      <p:bldP spid="37" grpId="0"/>
      <p:bldP spid="38" grpId="0"/>
      <p:bldP spid="39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84ED-9E5F-A63E-EE46-4A384E6E1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68250"/>
          </a:xfrm>
        </p:spPr>
        <p:txBody>
          <a:bodyPr>
            <a:normAutofit/>
          </a:bodyPr>
          <a:lstStyle/>
          <a:p>
            <a:pPr algn="ctr" rtl="1"/>
            <a:r>
              <a:rPr lang="en-GB" sz="11500" dirty="0"/>
              <a:t>BINARY BINGO TIME!!!</a:t>
            </a:r>
          </a:p>
        </p:txBody>
      </p:sp>
    </p:spTree>
    <p:extLst>
      <p:ext uri="{BB962C8B-B14F-4D97-AF65-F5344CB8AC3E}">
        <p14:creationId xmlns:p14="http://schemas.microsoft.com/office/powerpoint/2010/main" val="1088990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107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Understanding Binary The language of computers</vt:lpstr>
      <vt:lpstr>What is Binary?</vt:lpstr>
      <vt:lpstr>How does it work?</vt:lpstr>
      <vt:lpstr>BINARY BINGO TIME!!!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Weston, Zoe O (UG - Comp Sci &amp; Elec Eng)</dc:creator>
  <cp:lastModifiedBy>Weston, Zoe O (UG - Comp Sci &amp; Elec Eng)</cp:lastModifiedBy>
  <cp:revision>22</cp:revision>
  <dcterms:created xsi:type="dcterms:W3CDTF">2025-11-02T17:09:24Z</dcterms:created>
  <dcterms:modified xsi:type="dcterms:W3CDTF">2025-11-11T14:07:17Z</dcterms:modified>
</cp:coreProperties>
</file>